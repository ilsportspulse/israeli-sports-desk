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064b434fb94c5c" /><Relationship Type="http://schemas.openxmlformats.org/officeDocument/2006/relationships/extended-properties" Target="/docProps/app.xml" Id="R4cb216a1264d4bd0" /><Relationship Type="http://schemas.openxmlformats.org/officeDocument/2006/relationships/officeDocument" Target="/ppt/presentation.xml" Id="R65480b2b6e5b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880a412f6e44a7"/>
  </p:sldMasterIdLst>
  <p:notesMasterIdLst>
    <p:notesMasterId xmlns:r="http://schemas.openxmlformats.org/officeDocument/2006/relationships" r:id="R7ff419d6959842fd"/>
  </p:notesMasterIdLst>
  <p:sldIdLst>
    <p:sldId xmlns:r="http://schemas.openxmlformats.org/officeDocument/2006/relationships" id="256" r:id="Rdb8ea3316084418c"/>
    <p:sldId xmlns:r="http://schemas.openxmlformats.org/officeDocument/2006/relationships" id="257" r:id="R7f7e89a8d09a4575"/>
    <p:sldId xmlns:r="http://schemas.openxmlformats.org/officeDocument/2006/relationships" id="258" r:id="Rb773e18afa674674"/>
    <p:sldId xmlns:r="http://schemas.openxmlformats.org/officeDocument/2006/relationships" id="259" r:id="Rc4c58898609c4854"/>
    <p:sldId xmlns:r="http://schemas.openxmlformats.org/officeDocument/2006/relationships" id="260" r:id="Rdb24fd84578a4379"/>
    <p:sldId xmlns:r="http://schemas.openxmlformats.org/officeDocument/2006/relationships" id="261" r:id="R4f93866c7b5d438a"/>
    <p:sldId xmlns:r="http://schemas.openxmlformats.org/officeDocument/2006/relationships" id="262" r:id="Rcb6be9edcd2e4e5b"/>
    <p:sldId xmlns:r="http://schemas.openxmlformats.org/officeDocument/2006/relationships" id="263" r:id="R8b0cd45139d04d40"/>
    <p:sldId xmlns:r="http://schemas.openxmlformats.org/officeDocument/2006/relationships" id="264" r:id="R55fcaf14c03a4c10"/>
    <p:sldId xmlns:r="http://schemas.openxmlformats.org/officeDocument/2006/relationships" id="265" r:id="R40c14e1fe5c34157"/>
    <p:sldId xmlns:r="http://schemas.openxmlformats.org/officeDocument/2006/relationships" id="266" r:id="R61a954873d5140f3"/>
    <p:sldId xmlns:r="http://schemas.openxmlformats.org/officeDocument/2006/relationships" id="267" r:id="Rdc5a739c671244cb"/>
    <p:sldId xmlns:r="http://schemas.openxmlformats.org/officeDocument/2006/relationships" id="268" r:id="Rf8717399bd08473d"/>
    <p:sldId xmlns:r="http://schemas.openxmlformats.org/officeDocument/2006/relationships" id="269" r:id="Rc4f521604bdf48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3077f2bd624972" /><Relationship Type="http://schemas.openxmlformats.org/officeDocument/2006/relationships/slideMaster" Target="/ppt/slideMasters/slideMaster1.xml" Id="R07880a412f6e44a7" /><Relationship Type="http://schemas.openxmlformats.org/officeDocument/2006/relationships/notesMaster" Target="/ppt/notesMasters/notesMaster1.xml" Id="R7ff419d6959842fd" /><Relationship Type="http://schemas.openxmlformats.org/officeDocument/2006/relationships/presProps" Target="/ppt/presProps.xml" Id="R94c0f4b3a3254985" /><Relationship Type="http://schemas.openxmlformats.org/officeDocument/2006/relationships/tableStyles" Target="/ppt/tableStyles.xml" Id="R4df82189bec042e3" /><Relationship Type="http://schemas.openxmlformats.org/officeDocument/2006/relationships/slide" Target="/ppt/slides/slide1.xml" Id="Rdb8ea3316084418c" /><Relationship Type="http://schemas.openxmlformats.org/officeDocument/2006/relationships/slide" Target="/ppt/slides/slide2.xml" Id="R7f7e89a8d09a4575" /><Relationship Type="http://schemas.openxmlformats.org/officeDocument/2006/relationships/slide" Target="/ppt/slides/slide3.xml" Id="Rb773e18afa674674" /><Relationship Type="http://schemas.openxmlformats.org/officeDocument/2006/relationships/slide" Target="/ppt/slides/slide4.xml" Id="Rc4c58898609c4854" /><Relationship Type="http://schemas.openxmlformats.org/officeDocument/2006/relationships/slide" Target="/ppt/slides/slide5.xml" Id="Rdb24fd84578a4379" /><Relationship Type="http://schemas.openxmlformats.org/officeDocument/2006/relationships/slide" Target="/ppt/slides/slide6.xml" Id="R4f93866c7b5d438a" /><Relationship Type="http://schemas.openxmlformats.org/officeDocument/2006/relationships/slide" Target="/ppt/slides/slide7.xml" Id="Rcb6be9edcd2e4e5b" /><Relationship Type="http://schemas.openxmlformats.org/officeDocument/2006/relationships/slide" Target="/ppt/slides/slide8.xml" Id="R8b0cd45139d04d40" /><Relationship Type="http://schemas.openxmlformats.org/officeDocument/2006/relationships/slide" Target="/ppt/slides/slide9.xml" Id="R55fcaf14c03a4c10" /><Relationship Type="http://schemas.openxmlformats.org/officeDocument/2006/relationships/slide" Target="/ppt/slides/slide10.xml" Id="R40c14e1fe5c34157" /><Relationship Type="http://schemas.openxmlformats.org/officeDocument/2006/relationships/slide" Target="/ppt/slides/slide11.xml" Id="R61a954873d5140f3" /><Relationship Type="http://schemas.openxmlformats.org/officeDocument/2006/relationships/slide" Target="/ppt/slides/slide12.xml" Id="Rdc5a739c671244cb" /><Relationship Type="http://schemas.openxmlformats.org/officeDocument/2006/relationships/slide" Target="/ppt/slides/slide13.xml" Id="Rf8717399bd08473d" /><Relationship Type="http://schemas.openxmlformats.org/officeDocument/2006/relationships/slide" Target="/ppt/slides/slide14.xml" Id="Rc4f521604bdf48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09fd5d5d0545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ab13d96bec40ec" /><Relationship Type="http://schemas.openxmlformats.org/officeDocument/2006/relationships/notesMaster" Target="/ppt/notesMasters/notesMaster1.xml" Id="R0ec8ee29cb0942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0b5e114d134713" /><Relationship Type="http://schemas.openxmlformats.org/officeDocument/2006/relationships/notesMaster" Target="/ppt/notesMasters/notesMaster1.xml" Id="R436d91609c4f40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70b0b4ec044b6d" /><Relationship Type="http://schemas.openxmlformats.org/officeDocument/2006/relationships/notesMaster" Target="/ppt/notesMasters/notesMaster1.xml" Id="Rb45684c0b7fa4f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5cce30888040bc" /><Relationship Type="http://schemas.openxmlformats.org/officeDocument/2006/relationships/notesMaster" Target="/ppt/notesMasters/notesMaster1.xml" Id="R0561f62555ea44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5a7f3b85334ceb" /><Relationship Type="http://schemas.openxmlformats.org/officeDocument/2006/relationships/notesMaster" Target="/ppt/notesMasters/notesMaster1.xml" Id="R2ec0c43eb23047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e1b829734b4537" /><Relationship Type="http://schemas.openxmlformats.org/officeDocument/2006/relationships/notesMaster" Target="/ppt/notesMasters/notesMaster1.xml" Id="R452e8bdd045f4f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e07124f5554c88" /><Relationship Type="http://schemas.openxmlformats.org/officeDocument/2006/relationships/notesMaster" Target="/ppt/notesMasters/notesMaster1.xml" Id="Rf6e805c0057140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b05c78a8084699" /><Relationship Type="http://schemas.openxmlformats.org/officeDocument/2006/relationships/notesMaster" Target="/ppt/notesMasters/notesMaster1.xml" Id="Ref23baeee3cc40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40a104f0b84cb7" /><Relationship Type="http://schemas.openxmlformats.org/officeDocument/2006/relationships/notesMaster" Target="/ppt/notesMasters/notesMaster1.xml" Id="Rd2affa27c6594e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9e5b659bfb4f8e" /><Relationship Type="http://schemas.openxmlformats.org/officeDocument/2006/relationships/notesMaster" Target="/ppt/notesMasters/notesMaster1.xml" Id="Rb34288d3c6514a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1d3fd721b14424" /><Relationship Type="http://schemas.openxmlformats.org/officeDocument/2006/relationships/notesMaster" Target="/ppt/notesMasters/notesMaster1.xml" Id="R6922834da1b549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263cc65b764d86" /><Relationship Type="http://schemas.openxmlformats.org/officeDocument/2006/relationships/notesMaster" Target="/ppt/notesMasters/notesMaster1.xml" Id="Rf3be845a342540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4679483421460b" /><Relationship Type="http://schemas.openxmlformats.org/officeDocument/2006/relationships/notesMaster" Target="/ppt/notesMasters/notesMaster1.xml" Id="R1a00c03274f448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0b8ebc11ed43cf" /><Relationship Type="http://schemas.openxmlformats.org/officeDocument/2006/relationships/notesMaster" Target="/ppt/notesMasters/notesMaster1.xml" Id="R25de3a566b684d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f886e3a1644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24b39ea0804f73" /><Relationship Type="http://schemas.openxmlformats.org/officeDocument/2006/relationships/slideLayout" Target="/ppt/slideLayouts/slideLayout1.xml" Id="R18d2de11d64545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2de11d64545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e45ed230c4e6f" /><Relationship Type="http://schemas.openxmlformats.org/officeDocument/2006/relationships/image" Target="/ppt/media/image.png" Id="R7de0c43eac63407d" /><Relationship Type="http://schemas.openxmlformats.org/officeDocument/2006/relationships/image" Target="/ppt/media/image2.png" Id="R90ffb4c905ed4173" /><Relationship Type="http://schemas.openxmlformats.org/officeDocument/2006/relationships/image" Target="/ppt/media/image.svg" Id="Rd6202c60adb448e9" /><Relationship Type="http://schemas.openxmlformats.org/officeDocument/2006/relationships/notesSlide" Target="/ppt/notesSlides/notesSlide1.xml" Id="R170ec58d005e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ab4f75617439b" /><Relationship Type="http://schemas.openxmlformats.org/officeDocument/2006/relationships/notesSlide" Target="/ppt/notesSlides/notesSlide2.xml" Id="Rf64c3e0918d945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00a46cb62406b" /><Relationship Type="http://schemas.openxmlformats.org/officeDocument/2006/relationships/image" Target="/ppt/media/image.jpeg" Id="R04086ed6b48948fe" /><Relationship Type="http://schemas.openxmlformats.org/officeDocument/2006/relationships/notesSlide" Target="/ppt/notesSlides/notesSlide3.xml" Id="Rd871264e01f54d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8119db0cc4d47" /><Relationship Type="http://schemas.openxmlformats.org/officeDocument/2006/relationships/image" Target="/ppt/media/image3.png" Id="R084538c6da9049d8" /><Relationship Type="http://schemas.openxmlformats.org/officeDocument/2006/relationships/image" Target="/ppt/media/image4.png" Id="R9c3b07e0d7794c72" /><Relationship Type="http://schemas.openxmlformats.org/officeDocument/2006/relationships/notesSlide" Target="/ppt/notesSlides/notesSlide4.xml" Id="Rea9314c81ce8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58e52300049df" /><Relationship Type="http://schemas.openxmlformats.org/officeDocument/2006/relationships/notesSlide" Target="/ppt/notesSlides/notesSlide5.xml" Id="R38a2c32c469b43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ebcb11db4f3c" /><Relationship Type="http://schemas.openxmlformats.org/officeDocument/2006/relationships/notesSlide" Target="/ppt/notesSlides/notesSlide6.xml" Id="R1d844f1f2cd042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f796bad824b42" /><Relationship Type="http://schemas.openxmlformats.org/officeDocument/2006/relationships/image" Target="/ppt/media/image5.png" Id="R4e74b453ef044abb" /><Relationship Type="http://schemas.openxmlformats.org/officeDocument/2006/relationships/notesSlide" Target="/ppt/notesSlides/notesSlide7.xml" Id="R336afae3eda541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6e696227e4a6a" /><Relationship Type="http://schemas.openxmlformats.org/officeDocument/2006/relationships/image" Target="/ppt/media/image6.png" Id="Rf69d16ff8bb5464d" /><Relationship Type="http://schemas.openxmlformats.org/officeDocument/2006/relationships/notesSlide" Target="/ppt/notesSlides/notesSlide8.xml" Id="R77709da183f140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694bc1d974fbc" /><Relationship Type="http://schemas.openxmlformats.org/officeDocument/2006/relationships/notesSlide" Target="/ppt/notesSlides/notesSlide9.xml" Id="R24ef1f13f31c41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93fd527f145e8" /><Relationship Type="http://schemas.openxmlformats.org/officeDocument/2006/relationships/notesSlide" Target="/ppt/notesSlides/notesSlide10.xml" Id="R807b123efeb547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ea88ca8df42ff" /><Relationship Type="http://schemas.openxmlformats.org/officeDocument/2006/relationships/notesSlide" Target="/ppt/notesSlides/notesSlide11.xml" Id="Rddd5a7d1670248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6d036b37b4248" /><Relationship Type="http://schemas.openxmlformats.org/officeDocument/2006/relationships/chart" Target="/ppt/slides/charts/chart1.xml" Id="R8e204d8d9c294d08" /><Relationship Type="http://schemas.openxmlformats.org/officeDocument/2006/relationships/notesSlide" Target="/ppt/notesSlides/notesSlide12.xml" Id="R9a62fd6adba449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d4dc866a4483d" /><Relationship Type="http://schemas.openxmlformats.org/officeDocument/2006/relationships/notesSlide" Target="/ppt/notesSlides/notesSlide13.xml" Id="R59b4128fb02b49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089b5bc7f4775" /><Relationship Type="http://schemas.openxmlformats.org/officeDocument/2006/relationships/image" Target="/ppt/media/image7.png" Id="R595a2ac464d1473e" /><Relationship Type="http://schemas.openxmlformats.org/officeDocument/2006/relationships/notesSlide" Target="/ppt/notesSlides/notesSlide14.xml" Id="Re54a429bf5c040c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155EEF"/>
            </a:solidFill>
          </c:spPr>
          <c:cat>
            <c:strLit>
              <c:ptCount val="5"/>
              <c:pt idx="0">
                <c:v>Team + newsroom</c:v>
              </c:pt>
              <c:pt idx="1">
                <c:v>Product + data</c:v>
              </c:pt>
              <c:pt idx="2">
                <c:v>Admin + growth</c:v>
              </c:pt>
              <c:pt idx="3">
                <c:v>One-time launch</c:v>
              </c:pt>
              <c:pt idx="4">
                <c:v>Contingency</c:v>
              </c:pt>
            </c:strLit>
          </c:cat>
          <c:val>
            <c:numLit>
              <c:formatCode>General</c:formatCode>
              <c:ptCount val="5"/>
              <c:pt idx="0">
                <c:v>123600</c:v>
              </c:pt>
              <c:pt idx="1">
                <c:v>30180</c:v>
              </c:pt>
              <c:pt idx="2">
                <c:v>19800</c:v>
              </c:pt>
              <c:pt idx="3">
                <c:v>17304</c:v>
              </c:pt>
              <c:pt idx="4">
                <c:v>22906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0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0c43eac63407d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EFD6D-8257-4536-8641-7D5658E0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fb4c905ed4173">
            <a:extLst>
              <a:ext uri="{96DAC541-7B7A-43D3-8B79-37D633B846F1}">
                <asvg:svgBlip xmlns:asvg="http://schemas.microsoft.com/office/drawing/2016/SVG/main" r:embed="Rd6202c60adb448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4762500" cy="95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D52BB-ED1E-4B75-8BFF-4B5FFF16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76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AFAFF-B23A-495A-8E2F-99FD9DB8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</a:defRPr>
            </a:pPr>
            <a:r>
              <a:rPr sz="900" b="1">
                <a:solidFill>
                  <a:srgbClr val="071426"/>
                </a:solidFill>
              </a:rPr>
              <a:t>FOUNDING PARTNER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895A3-46C1-47B5-A68A-D9D608D7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THE DAILY HOME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FOR ISRAELI SPORT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7F63A-6F10-4CC6-869B-ACC1CB3E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7DFF"/>
                </a:solidFill>
              </a:defRPr>
            </a:pPr>
            <a:r>
              <a:rPr sz="1725" b="1">
                <a:solidFill>
                  <a:srgbClr val="4F7DFF"/>
                </a:solidFill>
              </a:rPr>
              <a:t>English reporting. Scores. History. Community.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62073-2F49-4350-896B-26BAC1AC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2DCEB"/>
                </a:solidFill>
              </a:defRPr>
            </a:pPr>
            <a:r>
              <a:rPr sz="1500" b="0">
                <a:solidFill>
                  <a:srgbClr val="D2DCEB"/>
                </a:solidFill>
              </a:rPr>
              <a:t>A professional English-language newsroom and daily sports habit—built in Israel for supporters everywhere.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2F1B2-412F-440D-BBCA-2DC79E56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A2BF"/>
                </a:solidFill>
              </a:defRPr>
            </a:pPr>
            <a:r>
              <a:rPr sz="825" b="1">
                <a:solidFill>
                  <a:srgbClr val="8EA2BF"/>
                </a:solidFill>
              </a:rPr>
              <a:t>12-MONTH LAUNCH · JULY 2026</a:t>
            </a:r>
          </a:p>
        </p:txBody>
      </p:sp>
    </p:spTree>
    <p:extLst>
      <p:ext uri="{BB962C8B-B14F-4D97-AF65-F5344CB8AC3E}">
        <p14:creationId xmlns:p14="http://schemas.microsoft.com/office/powerpoint/2010/main" val="999949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D8786-742D-495E-B835-E642E47D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ED124-08D8-47F6-8F9A-BF30092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426"/>
                </a:solidFill>
              </a:defRPr>
            </a:pPr>
            <a:r>
              <a:rPr sz="3150" b="1">
                <a:solidFill>
                  <a:srgbClr val="071426"/>
                </a:solidFill>
              </a:rPr>
              <a:t>Israeli sport is global. Its English daily layer is not.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DBBDB-B7D0-4895-AA76-9E5ED0E6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7D"/>
                </a:solidFill>
              </a:defRPr>
            </a:pPr>
            <a:r>
              <a:rPr sz="1350" b="0">
                <a:solidFill>
                  <a:srgbClr val="69707D"/>
                </a:solidFill>
              </a:rPr>
              <a:t>The gap is not another translation feed. It is a trusted product that connects reporting, scores, history and community.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75B8A-9F39-47CE-964A-C96C531D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552700" cy="28575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89B8D-CF8C-41A0-B16F-6FC9DF23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7DFF"/>
                </a:solidFill>
              </a:defRPr>
            </a:pPr>
            <a:r>
              <a:rPr sz="1050" b="1">
                <a:solidFill>
                  <a:srgbClr val="4F7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62887-1185-4EBC-BE03-15E001ED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Daily relevance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E24FE-D9A8-4B0E-B385-77A3B473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3E4"/>
                </a:solidFill>
              </a:defRPr>
            </a:pPr>
            <a:r>
              <a:rPr sz="1200" b="0">
                <a:solidFill>
                  <a:srgbClr val="C7D3E4"/>
                </a:solidFill>
              </a:rPr>
              <a:t>Football, basketball and Olympic sport move throughout the day—not once per news cycle.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C4522-4636-442C-A050-52C913FC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2552700" cy="28575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D468B-966C-4D2C-9673-DA93FF3A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C2582-621B-4CD1-A217-785EFA51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241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Diaspora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9588A-65A0-45E1-BF35-E6D01882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14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Supporters outside Israel need accurate names, context and terminology in natural English.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B4214-D494-4530-89D9-27FA9FE4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2552700" cy="28575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48F1E-FFEA-469D-84F0-9AA16AAE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A14BD-89ED-42C6-B131-041F92B1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Utility + journalism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3A83A-FBEA-4991-A2DF-1BCA5BA5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Scores, tables and line-ups create habit; verified reporting creates trust.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0701E-183B-4D19-8CB2-54F81A48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552700" cy="28575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09BF7-701F-44A5-AD32-6B4D555E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5FC48-A029-4413-B023-931F57B0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241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Partner-safe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4B3E7-A78E-49C6-B68D-C165B411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A governed sports environment with measurable inventory and no editorial pay-to-play.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3DCC0-9018-4360-A205-977D65EE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44C93-A6B4-4FB8-8974-A27FD9C1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426"/>
                </a:solidFill>
              </a:defRPr>
            </a:pPr>
            <a:r>
              <a:rPr sz="1050" b="1">
                <a:solidFill>
                  <a:srgbClr val="071426"/>
                </a:solidFill>
              </a:rPr>
              <a:t>ILSP proposition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87C4C-E678-434F-8B8E-95C0B5B8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426"/>
                </a:solidFill>
              </a:defRPr>
            </a:pPr>
            <a:r>
              <a:rPr sz="1800" b="1">
                <a:solidFill>
                  <a:srgbClr val="071426"/>
                </a:solidFill>
              </a:rPr>
              <a:t>Fast enough for the match. Serious enough for the story.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01CBA-E0F8-4F7B-911D-D590A58A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ILSP partner brief · 17 July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B4A68-123D-4A51-8AA3-5C06835B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6839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23D36C-ED9C-4338-A617-938416C1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THE FOUNDER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9037F-3913-476C-8905-0F2F3F5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426"/>
                </a:solidFill>
              </a:defRPr>
            </a:pPr>
            <a:r>
              <a:rPr sz="3150" b="1">
                <a:solidFill>
                  <a:srgbClr val="071426"/>
                </a:solidFill>
              </a:rPr>
              <a:t>Distance from Israel turned a gap into a 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B838A-C1C5-41E8-B6BE-1E648E62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7D"/>
                </a:solidFill>
              </a:defRPr>
            </a:pPr>
            <a:r>
              <a:rPr sz="1350" b="0">
                <a:solidFill>
                  <a:srgbClr val="69707D"/>
                </a:solidFill>
              </a:rPr>
              <a:t>Patrick Vanden Broek is building the English sports home he searched for as an Israeli growing up in Belgium.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3B3A6-7A6F-409A-BA3F-9C66D30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2900"/>
            <a:ext cx="14478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86ed6b48948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8900" y="419100"/>
            <a:ext cx="1295400" cy="1295400"/>
          </a:xfrm>
          <a:prstGeom xmlns:a="http://schemas.openxmlformats.org/drawingml/2006/main" prst="ellipse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8D097-B358-4A87-8F45-2179DB01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552700" cy="28575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F6421-8323-44C2-A40D-8191DD89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7DFF"/>
                </a:solidFill>
              </a:defRPr>
            </a:pPr>
            <a:r>
              <a:rPr sz="1050" b="1">
                <a:solidFill>
                  <a:srgbClr val="4F7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E33FE-07DC-4FB9-AEDA-D5CEBF9F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Tel Aviv, 1973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0FBAD-F41E-4273-BBBD-7FFE1C2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3E4"/>
                </a:solidFill>
              </a:defRPr>
            </a:pPr>
            <a:r>
              <a:rPr sz="1200" b="0">
                <a:solidFill>
                  <a:srgbClr val="C7D3E4"/>
                </a:solidFill>
              </a:rPr>
              <a:t>Born to an Israeli mother and Belgian father, Patrick’s connection to Israel began as family, identity and home.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C9FE2-7624-4B9A-9E81-8AD478E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2552700" cy="28575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91ECE-7A36-4BE7-8C01-FE72F15D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5A518-4629-437E-B611-3A79975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241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Belgium, 1982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00B01-A378-4C5A-9E49-CEBC5C87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14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Moving countries changed the distance, not the bond. Culture, food, mentality and sport kept Israel close.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FAB14-2FD7-4D9C-BE68-AAF828B8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2552700" cy="28575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9A283-99CB-4662-B9DE-8599A064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2B2BE-75FE-4791-B8C9-AE10B03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The gap grew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E41FB-0D15-4A72-AFE1-9786D20C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Barda, Itzhaki, Refaelov and other Israelis in Belgian football created interest without enough English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DDBE6-2441-43DB-95F4-3DBE9176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552700" cy="28575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06F4B-308E-421F-815F-A5FE60B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3B7C7-D6C5-4D44-9720-036E0783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241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Now: build 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B9E3C-E07E-4F54-85CC-486E9287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A decade-old idea becomes a daily newsroom and community for Israelis, Jews and every curious supporter.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96FC5-140F-4526-AAAD-1374D03C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135A9-AB3C-46A7-85DF-0339FF6B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426"/>
                </a:solidFill>
              </a:defRPr>
            </a:pPr>
            <a:r>
              <a:rPr sz="1050" b="1">
                <a:solidFill>
                  <a:srgbClr val="071426"/>
                </a:solidFill>
              </a:rPr>
              <a:t>Founder commitment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D367B-5FEB-451E-97D2-80B8790A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426"/>
                </a:solidFill>
              </a:defRPr>
            </a:pPr>
            <a:r>
              <a:rPr sz="1800" b="1">
                <a:solidFill>
                  <a:srgbClr val="071426"/>
                </a:solidFill>
              </a:rPr>
              <a:t>Passion starts it. Funding gives the newsroom people and time to last.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F8033-794A-4C94-9DCD-9FA757B9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ILSP founder story · 17 July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042F9-055C-4431-8EF7-2CC38B17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6055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3BDC6-525F-4E2D-92D5-ABA93E98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PRODUCT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E6D54-FDDD-4918-803D-BFA4C1B4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426"/>
                </a:solidFill>
              </a:defRPr>
            </a:pPr>
            <a:r>
              <a:rPr sz="3150" b="1">
                <a:solidFill>
                  <a:srgbClr val="071426"/>
                </a:solidFill>
              </a:rPr>
              <a:t>The product exists today—not as a pitch-deck promise.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6FACA-9647-416B-A094-4DD0FDB2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7D"/>
                </a:solidFill>
              </a:defRPr>
            </a:pPr>
            <a:r>
              <a:rPr sz="1350" b="0">
                <a:solidFill>
                  <a:srgbClr val="69707D"/>
                </a:solidFill>
              </a:rPr>
              <a:t>A responsive local publication already combines dynamic headlines, fixtures, exact imagery and long-form reporting.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538c6da9049d8"/>
          <a:srcRect xmlns:a="http://schemas.openxmlformats.org/drawingml/2006/main" l="0" t="12137" r="0" b="12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76450"/>
            <a:ext cx="7486650" cy="35433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b07e0d7794c72"/>
          <a:srcRect xmlns:a="http://schemas.openxmlformats.org/drawingml/2006/main" l="0" t="10674" r="0" b="10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1550" y="1943100"/>
            <a:ext cx="2238375" cy="3810000"/>
          </a:xfrm>
          <a:prstGeom xmlns:a="http://schemas.openxmlformats.org/drawingml/2006/main" prst="roundRect">
            <a:avLst>
              <a:gd name="adj" fmla="val 68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980F9-87C1-4FFA-AC99-40D29EFC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38350"/>
            <a:ext cx="1047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C95F0-00EF-4EB5-8ED3-02CA86D3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3835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F7DFF"/>
                </a:solidFill>
              </a:defRPr>
            </a:pPr>
            <a:r>
              <a:rPr sz="1950" b="1">
                <a:solidFill>
                  <a:srgbClr val="4F7DFF"/>
                </a:solidFill>
              </a:rPr>
              <a:t>30</a:t>
            </a:r>
          </a:p>
          <a:p xmlns:a="http://schemas.openxmlformats.org/drawingml/2006/main">
            <a:pPr algn="ctr">
              <a:defRPr sz="1950" b="1">
                <a:solidFill>
                  <a:srgbClr val="4F7DFF"/>
                </a:solidFill>
              </a:defRPr>
            </a:pPr>
            <a:r>
              <a:rPr sz="1950" b="1">
                <a:solidFill>
                  <a:srgbClr val="4F7DFF"/>
                </a:solidFill>
              </a:rPr>
              <a:t>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BEB21-BC0A-4F60-AB70-F9579065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242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9707D"/>
                </a:solidFill>
              </a:defRPr>
            </a:pPr>
            <a:r>
              <a:rPr sz="825" b="1">
                <a:solidFill>
                  <a:srgbClr val="69707D"/>
                </a:solidFill>
              </a:rPr>
              <a:t>source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BFA11-6448-4A5E-B3DB-19FC0346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38550"/>
            <a:ext cx="1047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8CB56-E381-4301-90EF-F9DD9E1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76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B7DD2-E3F2-4E4D-9AEF-55D1F8BF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910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DE8FF"/>
                </a:solidFill>
              </a:defRPr>
            </a:pPr>
            <a:r>
              <a:rPr sz="825" b="1">
                <a:solidFill>
                  <a:srgbClr val="DDE8FF"/>
                </a:solidFill>
              </a:rPr>
              <a:t>candidates</a:t>
            </a:r>
          </a:p>
          <a:p xmlns:a="http://schemas.openxmlformats.org/drawingml/2006/main">
            <a:pPr algn="ctr">
              <a:defRPr sz="825" b="1">
                <a:solidFill>
                  <a:srgbClr val="DDE8FF"/>
                </a:solidFill>
              </a:defRPr>
            </a:pPr>
            <a:r>
              <a:rPr sz="825" b="1">
                <a:solidFill>
                  <a:srgbClr val="DDE8FF"/>
                </a:solidFill>
              </a:rPr>
              <a:t>last 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0E1FA-17FF-42BA-8683-5DBA51D5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6"/>
                </a:solidFill>
              </a:defRPr>
            </a:pPr>
            <a:r>
              <a:rPr sz="1200" b="1">
                <a:solidFill>
                  <a:srgbClr val="071426"/>
                </a:solidFill>
              </a:rPr>
              <a:t>77 audit-clean published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81882-55C8-4BA9-AC7A-5C9313E3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Source: ILSP local ingestion and content audit, 17 July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A9C66-F22C-4C2E-946B-B28C5B66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6863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D08E71-42AB-4CB5-9B46-55A61E3A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NEWSROOM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DCAA1-F40F-4DC6-9103-EEC299B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Volume is discovered. Trust is earned at the gate.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A5E11-DC3A-4A5D-AD2D-00045767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3E4"/>
                </a:solidFill>
              </a:defRPr>
            </a:pPr>
            <a:r>
              <a:rPr sz="1350" b="0">
                <a:solidFill>
                  <a:srgbClr val="C7D3E4"/>
                </a:solidFill>
              </a:rPr>
              <a:t>ONE and Sport5 lead source discovery by configured volume; every report still needs independent, claim-specific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E5153-A217-4341-8637-1E6EBBC3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81150" cy="22669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AA08C-CD73-4898-8AC6-791A5B5F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4DB41-8D0D-4A73-8B2B-629918C9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29967-7A03-4528-8646-0A8AEC30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25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All enabled sources</a:t>
            </a:r>
          </a:p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every 30 minutes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E70BD-9B09-4F8B-B9CB-940AFB8E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76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570F8-11CB-45DF-9C4F-F0E2BD2F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1581150" cy="22669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53E5A-E403-4A58-8815-B7C3FDF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C0F37-50FF-41FA-A469-A7765F0A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194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658CD-1CAE-434D-8386-9E65151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29000"/>
            <a:ext cx="125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Names, results, contracts</a:t>
            </a:r>
          </a:p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and material claims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236B9-E2AE-418A-BE37-7E2BEEC3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76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595A3-D4F8-44EB-9B7A-C97B4DF1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1581150" cy="22669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0A888-03DA-4753-A00C-46F9C0E6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0F657-D579-4959-8891-1AE5C5A6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99D3A-FA16-4E7C-A315-67B499A4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25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Original idiomatic English</a:t>
            </a:r>
          </a:p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—not close translation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096F2-19F8-477E-94DD-D53597BE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76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A481F-AFFF-49AA-B279-169EA815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9800"/>
            <a:ext cx="1581150" cy="22669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B4047-3EE4-4401-A937-EA7A0AD0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2EB55-9AAA-4A8E-A09A-9A59C53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Unify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756F3-35DA-4772-8BC0-EE335CF6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125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URL, event-key and</a:t>
            </a:r>
          </a:p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semantic deduplication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C248B-94F9-4939-A308-4240C86F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76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28763-8EBF-49AC-A6FF-B2FF227C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1581150" cy="22669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15EB1-AE7A-442F-98F5-F51558E3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0EF1CD-6525-4091-9790-31F3EFBE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Publish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C0120D-62E9-4516-9F58-A9D62096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125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Professional word, fact</a:t>
            </a:r>
          </a:p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and paragraph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A380F-F95C-4A4A-A177-0BFFFCBF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76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2564AF-CBEF-4AD0-8099-EB247BAB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1581150" cy="22669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B64094-BF3B-4EE2-B2A9-964322C7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1B6540-FEA8-4910-8BF7-739C6ED5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8B9DFF-24E2-4273-BEB9-359DA95C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25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Homepage rank, image match,</a:t>
            </a:r>
          </a:p>
          <a:p xmlns:a="http://schemas.openxmlformats.org/drawingml/2006/main">
            <a:pPr algn="l">
              <a:defRPr sz="1050" b="0">
                <a:solidFill>
                  <a:srgbClr val="C7D3E4"/>
                </a:solidFill>
              </a:defRPr>
            </a:pPr>
            <a:r>
              <a:rPr sz="1050" b="0">
                <a:solidFill>
                  <a:srgbClr val="C7D3E4"/>
                </a:solidFill>
              </a:rPr>
              <a:t>freshness and corrections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B5AAD5-8D25-4618-8E82-CD0CAF62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586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1DFFB6-1AAC-484E-A773-5D188F57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0175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AA9810-5342-4186-9879-FBFE9904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EF5A9-D098-41E4-9103-FBF6AE3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D3E4"/>
                </a:solidFill>
              </a:defRPr>
            </a:pPr>
            <a:r>
              <a:rPr sz="900" b="0">
                <a:solidFill>
                  <a:srgbClr val="C7D3E4"/>
                </a:solidFill>
              </a:rPr>
              <a:t>ONE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584B10-22B5-498A-A609-4A781A4C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0175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C8D680-9F03-4314-ACA1-30B78C13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10AAFB-D6C6-411F-B3C2-4B885285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24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D3E4"/>
                </a:solidFill>
              </a:defRPr>
            </a:pPr>
            <a:r>
              <a:rPr sz="900" b="0">
                <a:solidFill>
                  <a:srgbClr val="C7D3E4"/>
                </a:solidFill>
              </a:rPr>
              <a:t>Sport5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DF4668-D5BE-4215-98E5-2B3EF143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578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A10616-FA06-4F3A-9550-861F7D65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95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6A4D1A-C974-4880-A8CA-137DA252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24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D3E4"/>
                </a:solidFill>
              </a:defRPr>
            </a:pPr>
            <a:r>
              <a:rPr sz="900" b="0">
                <a:solidFill>
                  <a:srgbClr val="C7D3E4"/>
                </a:solidFill>
              </a:rPr>
              <a:t>Walla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729A68-E0F6-4F1D-9014-FF5E9F38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578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494C6-C921-4140-92A1-9029BFAE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95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4537E4-2B47-43C7-B482-446EE1FC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24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D3E4"/>
                </a:solidFill>
              </a:defRPr>
            </a:pPr>
            <a:r>
              <a:rPr sz="900" b="0">
                <a:solidFill>
                  <a:srgbClr val="C7D3E4"/>
                </a:solidFill>
              </a:rPr>
              <a:t>Ynet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5FE63F-9614-4D3F-A369-EBE360EF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32425"/>
            <a:ext cx="4762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4109BE-F4A5-4B89-9AA0-030D8EF7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705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ECC117-35A5-4C5A-8B7A-2ADFBA3C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24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D3E4"/>
                </a:solidFill>
              </a:defRPr>
            </a:pPr>
            <a:r>
              <a:rPr sz="900" b="0">
                <a:solidFill>
                  <a:srgbClr val="C7D3E4"/>
                </a:solidFill>
              </a:rPr>
              <a:t>Sport1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B045CF-450A-4778-A35B-9DF7F3AE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72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Latest discovery mix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05A477-5E5C-42A5-AB93-7847E168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14950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E4"/>
                </a:solidFill>
              </a:defRPr>
            </a:pPr>
            <a:r>
              <a:rPr sz="1275" b="0">
                <a:solidFill>
                  <a:srgbClr val="C7D3E4"/>
                </a:solidFill>
              </a:rPr>
              <a:t>8 candidates discovered. Zero auto-published: the review gate held when final verification was unavailable.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3DA60C-3645-4293-AD66-B5D17DA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Source: ILSP local ingestion report, 17 July 2026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BF7AA1-FBB3-48E2-B3A2-C7E612C1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1743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5D1927-01F6-4ABA-A933-461D16E7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TRUST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D2409-3675-4DB0-BF42-D976F5B2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426"/>
                </a:solidFill>
              </a:defRPr>
            </a:pPr>
            <a:r>
              <a:rPr sz="3150" b="1">
                <a:solidFill>
                  <a:srgbClr val="071426"/>
                </a:solidFill>
              </a:rPr>
              <a:t>Four controls separate ILSP from a content farm.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034BD-789F-441C-9469-3FD28A09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7D"/>
                </a:solidFill>
              </a:defRPr>
            </a:pPr>
            <a:r>
              <a:rPr sz="1350" b="0">
                <a:solidFill>
                  <a:srgbClr val="69707D"/>
                </a:solidFill>
              </a:rPr>
              <a:t>The commercial model depends on a publication that supporters, rights holders and partners can safely share.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3D838-1D35-4FD8-B9B1-E1F6BC4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816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39A40-1034-4547-842D-04A7E614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30071-6415-4531-BB3D-0495CF86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</a:defRPr>
            </a:pPr>
            <a:r>
              <a:rPr sz="900" b="1">
                <a:solidFill>
                  <a:srgbClr val="071426"/>
                </a:solidFill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BD194-58AE-4838-A1C4-4BD71230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6695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Claim-specific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01B2A-BE8A-4A94-B6A5-7501D970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705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Material identities, scores, contracts and competition facts are checked against current authoritative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BD532-D966-4F5B-A393-8F1931BD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816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E8956-2A11-489D-9399-22577BF8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7CD28-E6B7-4431-B7D7-C4B4B269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</a:defRPr>
            </a:pPr>
            <a:r>
              <a:rPr sz="900" b="1">
                <a:solidFill>
                  <a:srgbClr val="071426"/>
                </a:solidFill>
              </a:rPr>
              <a:t>ORIGINAL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61F61-AEF2-407E-8C32-736ED88F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6695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Professional English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5215A-B3A1-4D27-A2E0-44C24F1F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4705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Substantial stories use natural sports terminology and clearly distinguish confirmed fact from uncertainty.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71E79-2F04-440C-817F-42BA5660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1816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C80ED-E89D-4810-A56D-4FC0C145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CC6E4-4BE4-4DF1-AF95-659B3790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EXACT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CA496-FA88-4D5F-A537-7A2048ED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Rights-cleared action imagery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B5FDE-5B6A-43DE-B900-06EFDE1E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4705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No unrelated historical substitute; every public image must match the stated athlete, team, venue or event.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28DED-592C-472F-A93F-DD0414E2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51816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20C3D-5AB6-4741-BAEE-E02D3801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7414C-B60F-407A-8B7A-C3D56BBE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</a:defRPr>
            </a:pPr>
            <a:r>
              <a:rPr sz="900" b="1">
                <a:solidFill>
                  <a:srgbClr val="071426"/>
                </a:solidFill>
              </a:rPr>
              <a:t>ACCOUNTABLE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0A7A5-AAEB-4453-B68D-75DF3E1E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5765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Corrections and audit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BE866-9290-4B93-A213-B845BAE9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4705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Homepage promotions, timestamps, duplicates and public-facing professionalism are reviewed every cycle.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83B84-5ED2-419B-8383-43D6BE11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4F660-3BC7-4B6C-80C5-6CC34EF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Commercial support never buys coverage, rankings, facts or corrections.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EA26BF-F639-4A6B-96B1-44DD9F46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ILSP partner brief · 17 July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C73992-318A-47F7-A631-1B396AF2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0708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6F6DA-2267-4BAD-A103-E908FF1E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PRODUCT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EE3B2-D6F3-4891-ACAD-E52365BC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426"/>
                </a:solidFill>
              </a:defRPr>
            </a:pPr>
            <a:r>
              <a:rPr sz="3150" b="1">
                <a:solidFill>
                  <a:srgbClr val="071426"/>
                </a:solidFill>
              </a:rPr>
              <a:t>Scores turn reporting into a daily habit.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7ED4B-8DD6-40A5-8F6A-0F5A2646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7D"/>
                </a:solidFill>
              </a:defRPr>
            </a:pPr>
            <a:r>
              <a:rPr sz="1350" b="0">
                <a:solidFill>
                  <a:srgbClr val="69707D"/>
                </a:solidFill>
              </a:rPr>
              <a:t>Schedules, results, team marks and completed tables are connected. Licensed live events and deeper statistics are the funded next step—and the largest data dependency.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4b453ef044abb"/>
          <a:srcRect xmlns:a="http://schemas.openxmlformats.org/drawingml/2006/main" l="0" t="5111" r="0" b="5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9300"/>
            <a:ext cx="685800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20F86-64C7-458D-941A-EF368012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19300"/>
            <a:ext cx="3657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42318-44FC-4466-BA05-AFD93445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CONNECTED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F828C-0008-4022-80B3-3DCFE308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3067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Fixtures · recent results · league tables · team marks · competition filters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E5C16-E851-4D51-A3EA-D0FB3EB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67150"/>
            <a:ext cx="36576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98012-5A92-4435-B316-A756947B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FUNDED 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D438B-3735-4017-A8FC-531D481C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Two-minute live scores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Starting line-ups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Goalscorers + incidents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Player and match statistics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Broad Israeli multi-sport depth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F42E3-3E75-4178-9D34-E4977BAD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Current product: local preview · Live-feed coverage subject to provider validation and licence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6801E-BE63-4C81-91ED-6AE72A0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1039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E6A4D-BADA-46B9-AAE2-E4C42795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AUDIENCE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8A70D-503C-406B-9780-E706F24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One newsroom. Five reasons to return every 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2CDBB-A1A5-4A7E-AFDC-7575D5F8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3E4"/>
                </a:solidFill>
              </a:defRPr>
            </a:pPr>
            <a:r>
              <a:rPr sz="1350" b="0">
                <a:solidFill>
                  <a:srgbClr val="C7D3E4"/>
                </a:solidFill>
              </a:rPr>
              <a:t>The website is the source of truth; each channel turns verified reporting into a repeatable supporter habit.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d16ff8bb5464d"/>
          <a:srcRect xmlns:a="http://schemas.openxmlformats.org/drawingml/2006/main" l="0" t="17217" r="0" b="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6300" y="1924050"/>
            <a:ext cx="2819400" cy="40005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25BCA-BCEF-4999-90F8-1B875A72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724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12E7A-8B37-482C-8BFD-AD1EB7F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9AC4E-0FBB-441C-86B1-16147342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3E4"/>
                </a:solidFill>
              </a:defRPr>
            </a:pPr>
            <a:r>
              <a:rPr sz="1125" b="0">
                <a:solidFill>
                  <a:srgbClr val="C7D3E4"/>
                </a:solidFill>
              </a:rPr>
              <a:t>Breaking news + depth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31EBD-35EE-48D6-A0D5-7D48D923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724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E5FBB-F08B-4AA2-8D6B-3E8CF70B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Newsletter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14F07-1DDE-4A3A-8A86-7AEC3185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3E4"/>
                </a:solidFill>
              </a:defRPr>
            </a:pPr>
            <a:r>
              <a:rPr sz="1125" b="0">
                <a:solidFill>
                  <a:srgbClr val="C7D3E4"/>
                </a:solidFill>
              </a:rPr>
              <a:t>Morning and evening Pulse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CC4E3-5AF0-4C57-BDBB-7C28BD5B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724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9E45A-68F7-4336-9367-2832058C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05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Social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71BC9-CC42-40BB-A334-049729A0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3E4"/>
                </a:solidFill>
              </a:defRPr>
            </a:pPr>
            <a:r>
              <a:rPr sz="1125" b="0">
                <a:solidFill>
                  <a:srgbClr val="C7D3E4"/>
                </a:solidFill>
              </a:rPr>
              <a:t>Fast verified distribution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74B67-BF68-44FE-BA2B-955BED64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2724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047B8-3F2A-4F40-A3F3-3CB30ECF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Alerts + apps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2B8B2-87F6-46CC-89BC-80E62CE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672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3E4"/>
                </a:solidFill>
              </a:defRPr>
            </a:pPr>
            <a:r>
              <a:rPr sz="1125" b="0">
                <a:solidFill>
                  <a:srgbClr val="C7D3E4"/>
                </a:solidFill>
              </a:rPr>
              <a:t>Match and story 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07BCA-8AEC-4D2D-BDEB-20C7FAB4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7DFF"/>
                </a:solidFill>
              </a:defRPr>
            </a:pPr>
            <a:r>
              <a:rPr sz="2100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57356-BB6F-486F-AED6-DA19ABB1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7DFF"/>
                </a:solidFill>
              </a:defRPr>
            </a:pPr>
            <a:r>
              <a:rPr sz="2100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F7877-8A9F-4F40-AE66-2B13371A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7DFF"/>
                </a:solidFill>
              </a:defRPr>
            </a:pPr>
            <a:r>
              <a:rPr sz="2100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28D1A-76DA-4ECD-BE91-F55D12A1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386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7DFF"/>
                </a:solidFill>
              </a:defRPr>
            </a:pPr>
            <a:r>
              <a:rPr sz="2100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2637F-F71D-4C26-8A67-B3286D67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57900"/>
            <a:ext cx="2438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904FC-4171-4BC3-856E-715936AA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579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</a:defRPr>
            </a:pPr>
            <a:r>
              <a:rPr sz="900" b="1">
                <a:solidFill>
                  <a:srgbClr val="071426"/>
                </a:solidFill>
              </a:rPr>
              <a:t>DAILY ARCHIVE + QUIZ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D76DF-4551-4454-8295-8938DEAD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ILSP partner brief · 17 July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571FF-BC52-4456-8D82-4F3C505C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1969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FE1BDA-F947-49FC-B7D2-7381E01C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PARTNER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4593C-6650-4EAA-AE64-8E45399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426"/>
                </a:solidFill>
              </a:defRPr>
            </a:pPr>
            <a:r>
              <a:rPr sz="3150" b="1">
                <a:solidFill>
                  <a:srgbClr val="071426"/>
                </a:solidFill>
              </a:rPr>
              <a:t>What does the partner actually gain?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4259E-792B-4479-B6FE-FC1F0B2A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7D"/>
                </a:solidFill>
              </a:defRPr>
            </a:pPr>
            <a:r>
              <a:rPr sz="1350" b="0">
                <a:solidFill>
                  <a:srgbClr val="69707D"/>
                </a:solidFill>
              </a:rPr>
              <a:t>A partner receives a defined audience product, measurable outcomes and category protection—not vague logo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2C68D-D1C7-43E8-8ECC-9AAF0F9B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816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6774B-356B-48E9-A943-473025D6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BA802-3DF4-4463-A828-AC20324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Visible relevance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5A369-77AA-4D57-8912-A47425C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3E4"/>
                </a:solidFill>
              </a:defRPr>
            </a:pPr>
            <a:r>
              <a:rPr sz="1125" b="0">
                <a:solidFill>
                  <a:srgbClr val="C7D3E4"/>
                </a:solidFill>
              </a:rPr>
              <a:t>Presence on the selected ILSP product, launch moments and approved campaign surfaces.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A2F20-9462-4211-ADFF-487E6D08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816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FB8E2-557E-458C-89B5-420597A1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F19DB-5D7F-45B3-855A-50992C0B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Audience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07A54-E199-450A-8410-CDB6819C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A credible route into English-speaking supporters of Israeli sport in Israel and worldwide.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A7DEC-A006-453F-8130-DCA2EEF9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1816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75BCA-B6B2-4485-84C9-43A571D4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8289D-856E-4381-A0BA-E4ACBF9A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Measured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5C60B-4CC2-4EDD-BDB5-D1C06AD5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Monthly delivery reporting and a quarterly impact review covering reach, usage and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CFE51-580A-439C-8D4F-B567CFF0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1816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787AC-5129-4857-84C2-73DED38D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19300-2131-41B0-852C-AFDA2D5B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24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Purpose + 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A41E2-CBC1-440F-A4D9-C5A4625D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Association with independent sport, diaspora connection and under-covered teams and athletes.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41658-C775-45E2-AD8D-66900A6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D1E7D-069A-4A3F-A65A-39C66198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426"/>
                </a:solidFill>
              </a:defRPr>
            </a:pPr>
            <a:r>
              <a:rPr sz="1050" b="1">
                <a:solidFill>
                  <a:srgbClr val="071426"/>
                </a:solidFill>
              </a:rPr>
              <a:t>Founding advantage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C2DE0-5EE0-4D14-A439-90AF9152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81650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Early category position, launch association and a first renewal conversation—without editorial influence.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AE77C-D12A-4DB1-9133-A90A09C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07D"/>
                </a:solidFill>
              </a:defRPr>
            </a:pPr>
            <a:r>
              <a:rPr sz="825" b="0">
                <a:solidFill>
                  <a:srgbClr val="69707D"/>
                </a:solidFill>
              </a:rPr>
              <a:t>Before audited traffic exists, ILSP sells a defined pilot and a baseline—not invented impressions or guaranteed reach.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4FAE2-8DBC-424C-A82B-34FB1ABF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ILSP partner value framework · 17 July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0C625-2D98-4F83-8A5B-86ACAD41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0433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02E4F8-B27F-4DA4-8589-F38E0887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PARTNER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06FFC-D9AD-4EC7-89AD-5E15BD8D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Hundreds in the universe. Every approach remains personal.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AC77B-7E1E-43E0-B0F8-DB6CD837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3E4"/>
                </a:solidFill>
              </a:defRPr>
            </a:pPr>
            <a:r>
              <a:rPr sz="1350" b="0">
                <a:solidFill>
                  <a:srgbClr val="C7D3E4"/>
                </a:solidFill>
              </a:rPr>
              <a:t>The deck is a general foundation; each prospect receives a short, target-specific opening, relevant ask and approved attachment.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4B59B-45EB-49D2-8B30-BF7CD326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581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0E9D4-0B43-4ACB-8644-7F426A8B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7DFF"/>
                </a:solidFill>
              </a:defRPr>
            </a:pPr>
            <a:r>
              <a:rPr sz="2325" b="1">
                <a:solidFill>
                  <a:srgbClr val="4F7DFF"/>
                </a:solidFill>
              </a:rPr>
              <a:t>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EC73A-1228-400B-95F1-85CB6AAF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3DEEC"/>
                </a:solidFill>
              </a:defRPr>
            </a:pPr>
            <a:r>
              <a:rPr sz="975" b="1">
                <a:solidFill>
                  <a:srgbClr val="D3DEEC"/>
                </a:solidFill>
              </a:rPr>
              <a:t>target universe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5B0B8-CF3D-420C-B6E2-BE1904D6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003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A01D6-21AB-49C9-9660-26441DA0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5050"/>
            <a:ext cx="1581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FE494-CCB4-4047-9C8C-5A71BAB3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574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300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1DC83-ED53-4B95-A5A3-FE0E0F3C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3DEEC"/>
                </a:solidFill>
              </a:defRPr>
            </a:pPr>
            <a:r>
              <a:rPr sz="975" b="1">
                <a:solidFill>
                  <a:srgbClr val="D3DEEC"/>
                </a:solidFill>
              </a:rPr>
              <a:t>personalised approaches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9BB05-3D7C-4F3E-93EA-7BD8AB54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03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37ED8-46CA-4C1C-99A0-A8ED584C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581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6CB96-8A56-44DE-9AB2-EA6EDC75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7DFF"/>
                </a:solidFill>
              </a:defRPr>
            </a:pPr>
            <a:r>
              <a:rPr sz="2325" b="1">
                <a:solidFill>
                  <a:srgbClr val="4F7DFF"/>
                </a:solidFill>
              </a:rPr>
              <a:t>30–60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29B82-5187-4328-AC28-4C22D2A3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3DEEC"/>
                </a:solidFill>
              </a:defRPr>
            </a:pPr>
            <a:r>
              <a:rPr sz="975" b="1">
                <a:solidFill>
                  <a:srgbClr val="D3DEEC"/>
                </a:solidFill>
              </a:rPr>
              <a:t>replies or referrals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1727B-06DD-4D83-9C69-4EA8B33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03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E060E-CC88-4227-A0AD-BF74C150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5050"/>
            <a:ext cx="1581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AF8AE-B68F-47E5-81F5-C240C936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7DFF"/>
                </a:solidFill>
              </a:defRPr>
            </a:pPr>
            <a:r>
              <a:rPr sz="2325" b="1">
                <a:solidFill>
                  <a:srgbClr val="4F7DFF"/>
                </a:solidFill>
              </a:rPr>
              <a:t>15–30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3B811-D8B2-49D6-81EB-C114F5C7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3DEEC"/>
                </a:solidFill>
              </a:defRPr>
            </a:pPr>
            <a:r>
              <a:rPr sz="975" b="1">
                <a:solidFill>
                  <a:srgbClr val="D3DEEC"/>
                </a:solidFill>
              </a:rPr>
              <a:t>meetings /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C5592-6963-4C78-9B6A-55336C5B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2221A-F969-4BFB-BEE9-A82BC160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581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C244D-7FD8-4624-9872-E35739EB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7DFF"/>
                </a:solidFill>
              </a:defRPr>
            </a:pPr>
            <a:r>
              <a:rPr sz="2325" b="1">
                <a:solidFill>
                  <a:srgbClr val="4F7DFF"/>
                </a:solidFill>
              </a:rPr>
              <a:t>6–12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12F1D-87E3-4E79-A23D-77F5910A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3DEEC"/>
                </a:solidFill>
              </a:defRPr>
            </a:pPr>
            <a:r>
              <a:rPr sz="975" b="1">
                <a:solidFill>
                  <a:srgbClr val="D3DEEC"/>
                </a:solidFill>
              </a:rPr>
              <a:t>proposals or pilots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3E8FA-B0F1-4E7E-8EF1-3F0B37B9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7DFF"/>
                </a:solidFill>
              </a:defRPr>
            </a:pPr>
            <a:r>
              <a:rPr sz="1425" b="1">
                <a:solidFill>
                  <a:srgbClr val="4F7DF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F328B-EE0A-4C4A-9DAA-DF771B99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05050"/>
            <a:ext cx="1581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DAC86-F454-41CC-8EB0-2CB108A7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7DFF"/>
                </a:solidFill>
              </a:defRPr>
            </a:pPr>
            <a:r>
              <a:rPr sz="2325" b="1">
                <a:solidFill>
                  <a:srgbClr val="4F7DFF"/>
                </a:solidFill>
              </a:rPr>
              <a:t>3–6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1FF6D-C05F-4317-8FE8-8C9689D3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051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3DEEC"/>
                </a:solidFill>
              </a:defRPr>
            </a:pPr>
            <a:r>
              <a:rPr sz="975" b="1">
                <a:solidFill>
                  <a:srgbClr val="D3DEEC"/>
                </a:solidFill>
              </a:rPr>
              <a:t>funded / in-kind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A180C-9141-450D-B538-9A90B96C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181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976740-270A-499A-B934-782DAAA1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Operating cadence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EA837-DA93-41A5-86AD-412AAC63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25 personalised openings per month</a:t>
            </a:r>
          </a:p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Two useful follow-ups at most</a:t>
            </a:r>
          </a:p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CRM record, verified route and owner approval</a:t>
            </a:r>
          </a:p>
          <a:p xmlns:a="http://schemas.openxmlformats.org/drawingml/2006/main">
            <a:pPr algn="l">
              <a:defRPr sz="1200" b="0">
                <a:solidFill>
                  <a:srgbClr val="69707D"/>
                </a:solidFill>
              </a:defRPr>
            </a:pPr>
            <a:r>
              <a:rPr sz="1200" b="0">
                <a:solidFill>
                  <a:srgbClr val="69707D"/>
                </a:solidFill>
              </a:rPr>
              <a:t>Close the sequence when there is no fit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3796DB-84EE-457C-AD36-649AB585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410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1A6734-57DE-482F-B014-53F4531F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Planning funnel—not a promise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366C9B-94E1-4E77-9947-1D033F0C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The ranges are workload and conversion assumptions. They become forecasts only after real reply, meeting and proposal data exists.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1FE9F3-25D8-46E5-8EC2-63E62923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ILSP twelve-month outreach operating plan · No external messages sent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BFEABC-95BA-4582-81DD-A18172B4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1500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888CB5-C9A9-40D7-82B7-2D4BC46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PARTNER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B67E8-3B80-46D6-A7A4-5E986678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426"/>
                </a:solidFill>
              </a:defRPr>
            </a:pPr>
            <a:r>
              <a:rPr sz="3150" b="1">
                <a:solidFill>
                  <a:srgbClr val="071426"/>
                </a:solidFill>
              </a:rPr>
              <a:t>Five sponsor products—not five prospects.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AFFD9-213A-49E6-A5EC-F85CC015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7D"/>
                </a:solidFill>
              </a:defRPr>
            </a:pPr>
            <a:r>
              <a:rPr sz="1350" b="0">
                <a:solidFill>
                  <a:srgbClr val="69707D"/>
                </a:solidFill>
              </a:rPr>
              <a:t>Hundreds of organisations can receive a tailored proposal. Pricing remains illustrative until traffic, legal review and founder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6592C-B39D-43ED-A57E-CA622D5C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943100" cy="2571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2BC40-323B-4C5A-A903-D1EBCEDB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FOUNDING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87C2F-58F3-4DA4-B949-5E7D7FDD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$30k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B1064-EA03-4F1D-BD4A-E80AC7F0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7D3E4"/>
                </a:solidFill>
              </a:defRPr>
            </a:pPr>
            <a:r>
              <a:rPr sz="1125" b="0">
                <a:solidFill>
                  <a:srgbClr val="C7D3E4"/>
                </a:solidFill>
              </a:rPr>
              <a:t>Launch association</a:t>
            </a:r>
          </a:p>
          <a:p xmlns:a="http://schemas.openxmlformats.org/drawingml/2006/main">
            <a:pPr algn="ctr">
              <a:defRPr sz="1125" b="0">
                <a:solidFill>
                  <a:srgbClr val="C7D3E4"/>
                </a:solidFill>
              </a:defRPr>
            </a:pPr>
            <a:r>
              <a:rPr sz="1125" b="0">
                <a:solidFill>
                  <a:srgbClr val="C7D3E4"/>
                </a:solidFill>
              </a:rPr>
              <a:t>+ quarterly impact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27F9A-86D7-4B23-99CB-6D680530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1943100" cy="2571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36FAD-C656-46D9-8DCF-19FCBEC1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MATCH CENTRE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8E5EF-989D-4830-A4D3-08253D4E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$20k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0AC3D-B75C-4FF0-8F4E-74D1459F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38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High-intent utility</a:t>
            </a:r>
          </a:p>
          <a:p xmlns:a="http://schemas.openxmlformats.org/drawingml/2006/main">
            <a:pPr algn="ctr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+ usage reporting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9D37A-0FC0-487E-ADD8-E1DDA1ED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43100" cy="2571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64B37-D16C-4B0A-9BAC-EA421080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622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DAILY PULSE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D277F-CC46-4C60-BDD1-3A045B93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$12k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35035-24F9-4FDA-9E7D-61880B1D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Newsletter presence</a:t>
            </a:r>
          </a:p>
          <a:p xmlns:a="http://schemas.openxmlformats.org/drawingml/2006/main">
            <a:pPr algn="ctr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+ campaign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23B13-C430-4CAE-877F-67AADE32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1943100" cy="2571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F952A-4FB1-45B5-B229-D845F8EE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D059E-CD2A-420E-BC7A-62F2FCA6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384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$10k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640C5-D231-4AE9-A743-9A4F087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Heritage positioning</a:t>
            </a:r>
          </a:p>
          <a:p xmlns:a="http://schemas.openxmlformats.org/drawingml/2006/main">
            <a:pPr algn="ctr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+ monthly reach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7B804-23E3-4B83-BC0F-E58FF0AE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943100" cy="2571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A949B-225E-49C8-96DE-724CF654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622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WOMEN + YOUTH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C2B42-4CF9-4791-B54D-C418C43A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384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$12k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126FD-F9FA-4664-A8D6-591A5019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Under-covered sport</a:t>
            </a:r>
          </a:p>
          <a:p xmlns:a="http://schemas.openxmlformats.org/drawingml/2006/main">
            <a:pPr algn="ctr">
              <a:defRPr sz="1125" b="0">
                <a:solidFill>
                  <a:srgbClr val="69707D"/>
                </a:solidFill>
              </a:defRPr>
            </a:pPr>
            <a:r>
              <a:rPr sz="1125" b="0">
                <a:solidFill>
                  <a:srgbClr val="69707D"/>
                </a:solidFill>
              </a:rPr>
              <a:t>+ impact reporting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DB8CC-EDCF-45E0-9DB5-B2CE21BC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AC5AA-6A1A-4800-AC2B-32026955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Every package includes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CC4CB-0B9B-4BCA-9B61-88DA5F5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62550"/>
            <a:ext cx="824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Clear deliverables · category protection · brand-safety controls · performance reporting · editorial firewall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9D9C6-119E-45D5-96D9-6796963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62600"/>
            <a:ext cx="824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07D"/>
                </a:solidFill>
              </a:defRPr>
            </a:pPr>
            <a:r>
              <a:rPr sz="975" b="0">
                <a:solidFill>
                  <a:srgbClr val="69707D"/>
                </a:solidFill>
              </a:rPr>
              <a:t>No reader data sharing. No control over coverage. No unapproved discounts or promises.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9CDA5-7718-451D-AB75-BC06439D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ILSP partner brief · 17 July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CED645-BCED-44A1-BE0E-58C5D296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1995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B8034-71E4-4F36-A205-50186243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76B19-489F-4F39-9129-514F6B28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426"/>
                </a:solidFill>
              </a:defRPr>
            </a:pPr>
            <a:r>
              <a:rPr sz="3150" b="1">
                <a:solidFill>
                  <a:srgbClr val="071426"/>
                </a:solidFill>
              </a:rPr>
              <a:t>The professional 12-month launch target: $213,790.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30B47-53C8-4431-B9EB-4A24FF8F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7D"/>
                </a:solidFill>
              </a:defRPr>
            </a:pPr>
            <a:r>
              <a:rPr sz="1350" b="0">
                <a:solidFill>
                  <a:srgbClr val="69707D"/>
                </a:solidFill>
              </a:rPr>
              <a:t>A conservative founder-led model—not a fully staffed corporate newsroom. Public technology prices are verified; payroll, rights and data still require local quotes.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D19CF-3520-4769-B1E7-05A9F19B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524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1EF72-F24B-454F-AB6C-AAB8EA43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3105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F7DFF"/>
                </a:solidFill>
              </a:defRPr>
            </a:pPr>
            <a:r>
              <a:rPr sz="3450" b="1">
                <a:solidFill>
                  <a:srgbClr val="4F7DFF"/>
                </a:solidFill>
              </a:rPr>
              <a:t>$213,790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3D173-A2F0-4FE8-A55E-EC1E236B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12-month cash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6FE18-9E16-4072-A3BC-2C33758E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443B8-9701-4F47-8AA9-2808036D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EEF"/>
                </a:solidFill>
              </a:defRPr>
            </a:pPr>
            <a:r>
              <a:rPr sz="1725" b="1">
                <a:solidFill>
                  <a:srgbClr val="155EEF"/>
                </a:solidFill>
              </a:rPr>
              <a:t>$14,465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99E18-0C15-4C6E-ACCA-AF7D7C03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9707D"/>
                </a:solidFill>
              </a:defRPr>
            </a:pPr>
            <a:r>
              <a:rPr sz="750" b="1">
                <a:solidFill>
                  <a:srgbClr val="69707D"/>
                </a:solidFill>
              </a:rPr>
              <a:t>monthly operating run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7BB06-85CD-4D51-94D4-714271C9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8B9FA-099C-4676-96E6-2A6805C4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95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EEF"/>
                </a:solidFill>
              </a:defRPr>
            </a:pPr>
            <a:r>
              <a:rPr sz="1725" b="1">
                <a:solidFill>
                  <a:srgbClr val="155EEF"/>
                </a:solidFill>
              </a:rPr>
              <a:t>$17,304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D0E8A-6C68-4EB9-A723-93A3A919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624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9707D"/>
                </a:solidFill>
              </a:defRPr>
            </a:pPr>
            <a:r>
              <a:rPr sz="750" b="1">
                <a:solidFill>
                  <a:srgbClr val="69707D"/>
                </a:solidFill>
              </a:rPr>
              <a:t>one-time launch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A127F-7854-40F4-BBCA-9AD8B739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B777A-8DEC-4E70-9BF0-D5D6E3A2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EEF"/>
                </a:solidFill>
              </a:defRPr>
            </a:pPr>
            <a:r>
              <a:rPr sz="1725" b="1">
                <a:solidFill>
                  <a:srgbClr val="155EEF"/>
                </a:solidFill>
              </a:rPr>
              <a:t>$22,906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5AE49-2D1C-4C1F-A735-C2CD5F5B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9707D"/>
                </a:solidFill>
              </a:defRPr>
            </a:pPr>
            <a:r>
              <a:rPr sz="750" b="1">
                <a:solidFill>
                  <a:srgbClr val="69707D"/>
                </a:solidFill>
              </a:rPr>
              <a:t>contingency reserve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C5151-2831-48B9-BFF7-3FBC5703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4D7C5-D9B2-4F03-B68B-1BE49E0D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EEF"/>
                </a:solidFill>
              </a:defRPr>
            </a:pPr>
            <a:r>
              <a:rPr sz="1725" b="1">
                <a:solidFill>
                  <a:srgbClr val="155EEF"/>
                </a:solidFill>
              </a:rPr>
              <a:t>$30,000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C73F6-F3D5-4AEE-9F00-5624F3B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530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9707D"/>
                </a:solidFill>
              </a:defRPr>
            </a:pPr>
            <a:r>
              <a:rPr sz="750" b="1">
                <a:solidFill>
                  <a:srgbClr val="69707D"/>
                </a:solidFill>
              </a:rPr>
              <a:t>indicative in-kind target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4800600" y="2171700"/>
          <a:ext xmlns:a="http://schemas.openxmlformats.org/drawingml/2006/main" cx="67056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204d8d9c294d08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AF26A-AC2F-4A5D-B8F4-09591CF0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505450"/>
            <a:ext cx="670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C618A-1784-4FB0-815B-52F5FA53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05450"/>
            <a:ext cx="636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26"/>
                </a:solidFill>
              </a:defRPr>
            </a:pPr>
            <a:r>
              <a:rPr sz="1125" b="1">
                <a:solidFill>
                  <a:srgbClr val="071426"/>
                </a:solidFill>
              </a:rPr>
              <a:t>Recommended gate: one founding cash partner + one infrastructure/data partner before production purchases.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421CE-1EC5-4994-A54D-6BE662C1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134100"/>
            <a:ext cx="670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9707D"/>
                </a:solidFill>
              </a:defRPr>
            </a:pPr>
            <a:r>
              <a:rPr sz="750" b="1">
                <a:solidFill>
                  <a:srgbClr val="69707D"/>
                </a:solidFill>
              </a:rPr>
              <a:t>MODEL STATUS: math reconciles · public platform fees checked · employment, media and production-data costs remain estimates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64E25-FFBC-4643-822B-D3AAD94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Source: ILSP launch funding model · Public vendor prices rechecked 17 July 2026 · Quotes required before commitment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A607D-1620-4E99-8B65-D199CBD5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796322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F0EC87-6D46-4BAA-8F9B-1DBE47DA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12-MONTH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EDA3B-763C-4CD2-BC9A-DC3D21A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Fund the proof. Validate the habit. Scale only 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8AEB3-C3BA-477B-A045-1A40931F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3E4"/>
                </a:solidFill>
              </a:defRPr>
            </a:pPr>
            <a:r>
              <a:rPr sz="1350" b="0">
                <a:solidFill>
                  <a:srgbClr val="C7D3E4"/>
                </a:solidFill>
              </a:rPr>
              <a:t>Each phase has a release gate; apps and multilingual expansion follow a stable English newsroom and licensed data foundation.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94041-E202-4AA1-882E-AEDD52FB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457450" cy="33718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94C81-70E3-436B-A2AC-5D546691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BE5CD-80C5-473D-85D7-D11F9655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</a:defRPr>
            </a:pPr>
            <a:r>
              <a:rPr sz="900" b="1">
                <a:solidFill>
                  <a:srgbClr val="071426"/>
                </a:solidFill>
              </a:rPr>
              <a:t>Q1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10844-797C-47A6-90CA-B50548F4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84291-D837-464F-B18C-49CA338A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057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Brand + legal baseline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Production website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Newsletter pilot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Score-feed coverage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7FDEA-E3EE-4F03-9C63-890340F0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20764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945DE-968C-45FF-88C3-99E9E28A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Cash + rights signed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04530-A364-4E8D-BC5D-1523B5B2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457450" cy="33718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EB202-4973-4DC3-B95B-CC20EC85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431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BD202-4C9B-4125-BCD5-22718CDA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43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33D37-66C4-41CC-AC86-5955913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HABIT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1B4B4-FCF8-44B9-8938-067138B7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48050"/>
            <a:ext cx="2057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Social cadence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Daily archive + quiz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Scores expansion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First partner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81924-8C05-403D-ADEB-13AAA3A3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38700"/>
            <a:ext cx="20764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1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1AD66-E3E1-4DCB-9A72-924A805E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387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Retention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0AA85-B334-4F95-88D3-90E1E6E7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457450" cy="33718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021D0-5667-49D5-AE62-A0CAD6B6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127A0-0ADB-41C6-821E-398DE12E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23425-C70A-42B5-B462-AEB6B0C3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MOBILE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50BD6-882C-4A9E-83B6-D408A239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2057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Android beta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iOS beta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Push architecture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Second-language prototype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E738F-9A87-4AC8-B51A-D08B25B9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20764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1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F29B1-47ED-48B0-A258-07F7885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387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Privacy + QA complete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5B724-7901-4704-BA41-B28887EC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2457450" cy="33718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112642"/>
          </a:solidFill>
          <a:ln xmlns:a="http://schemas.openxmlformats.org/drawingml/2006/main" w="9525">
            <a:solidFill>
              <a:srgbClr val="29436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48E231-17B4-4C0F-96E5-6F6D5C17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431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8BA12-84B2-4A28-806D-BC411C04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43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5F01A9-08E1-41E2-9948-A2415F10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33F6B7-785E-41ED-BF8F-F3E0890B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057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Multi-sport depth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Partner renewals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Year-one impact</a:t>
            </a:r>
          </a:p>
          <a:p xmlns:a="http://schemas.openxmlformats.org/drawingml/2006/main">
            <a:pPr algn="l">
              <a:defRPr sz="1275" b="0">
                <a:solidFill>
                  <a:srgbClr val="D3DEEC"/>
                </a:solidFill>
              </a:defRPr>
            </a:pPr>
            <a:r>
              <a:rPr sz="1275" b="0">
                <a:solidFill>
                  <a:srgbClr val="D3DEEC"/>
                </a:solidFill>
              </a:rPr>
              <a:t>Runway 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1632B9-CF7A-4B7E-A735-D7484769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38700"/>
            <a:ext cx="20764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1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D41FEA-EE76-41EA-8B78-3EFE720B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387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7DFF"/>
                </a:solidFill>
              </a:defRPr>
            </a:pPr>
            <a:r>
              <a:rPr sz="900" b="1">
                <a:solidFill>
                  <a:srgbClr val="4F7DFF"/>
                </a:solidFill>
              </a:rPr>
              <a:t>Audience + revenue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146823-C91E-43B9-86E1-B3F3F0E8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17FB86-6441-47D5-9506-EB0E2ECA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426"/>
                </a:solidFill>
              </a:defRPr>
            </a:pPr>
            <a:r>
              <a:rPr sz="1050" b="1">
                <a:solidFill>
                  <a:srgbClr val="071426"/>
                </a:solidFill>
              </a:rPr>
              <a:t>No app-store account, production deployment, data contract or external campaign is activated before the matching approval and funding gate.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4B58A8-4754-4CC3-B261-556003BF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492A6"/>
                </a:solidFill>
              </a:defRPr>
            </a:pPr>
            <a:r>
              <a:rPr sz="675" b="0">
                <a:solidFill>
                  <a:srgbClr val="8492A6"/>
                </a:solidFill>
              </a:rPr>
              <a:t>ILSP partner brief · 17 July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4D0B01-55A9-425F-A2D9-642AA37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55EEF"/>
                </a:solidFill>
              </a:defRPr>
            </a:pPr>
            <a:r>
              <a:rPr sz="750" b="1">
                <a:solidFill>
                  <a:srgbClr val="155EE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65373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a2ac464d1473e"/>
          <a:srcRect xmlns:a="http://schemas.openxmlformats.org/drawingml/2006/main" l="24306" t="0" r="243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0"/>
            <a:ext cx="5638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78DA3-CCD9-4F46-B81E-7ACCF896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1A9FF-529C-431F-A843-6CE9C2C0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943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1244B-2AAC-4885-9372-D05EAB65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</a:defRPr>
            </a:pPr>
            <a:r>
              <a:rPr sz="900" b="1">
                <a:solidFill>
                  <a:srgbClr val="071426"/>
                </a:solidFill>
              </a:rPr>
              <a:t>FOUNDING CONVERSATION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07A71-71ED-43CC-AB44-3EFE2F24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Help build the daily home of Israeli sport in English.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A7E51-0A08-4596-B3D1-E3E94506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F"/>
                </a:solidFill>
              </a:defRPr>
            </a:pPr>
            <a:r>
              <a:rPr sz="1125" b="1">
                <a:solidFill>
                  <a:srgbClr val="4F7DFF"/>
                </a:solidFill>
              </a:rPr>
              <a:t>We are seeking: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C2D5C-0369-4C8A-A3DC-63D4F780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3DEEC"/>
                </a:solidFill>
              </a:defRPr>
            </a:pPr>
            <a:r>
              <a:rPr sz="1650" b="0">
                <a:solidFill>
                  <a:srgbClr val="D3DEEC"/>
                </a:solidFill>
              </a:rPr>
              <a:t>01  A founding cash partner</a:t>
            </a:r>
          </a:p>
          <a:p xmlns:a="http://schemas.openxmlformats.org/drawingml/2006/main">
            <a:pPr algn="l">
              <a:defRPr sz="1650" b="0">
                <a:solidFill>
                  <a:srgbClr val="D3DEEC"/>
                </a:solidFill>
              </a:defRPr>
            </a:pPr>
            <a:r>
              <a:rPr sz="1650" b="0">
                <a:solidFill>
                  <a:srgbClr val="D3DEEC"/>
                </a:solidFill>
              </a:rPr>
              <a:t>02  A licensed data or infrastructure partner</a:t>
            </a:r>
          </a:p>
          <a:p xmlns:a="http://schemas.openxmlformats.org/drawingml/2006/main">
            <a:pPr algn="l">
              <a:defRPr sz="1650" b="0">
                <a:solidFill>
                  <a:srgbClr val="D3DEEC"/>
                </a:solidFill>
              </a:defRPr>
            </a:pPr>
            <a:r>
              <a:rPr sz="1650" b="0">
                <a:solidFill>
                  <a:srgbClr val="D3DEEC"/>
                </a:solidFill>
              </a:rPr>
              <a:t>03  Mission-aligned distribution and grant partners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EB80B-C434-484E-AF52-1B25D734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181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D343B-596A-4046-9DB2-6A9A4A5A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NEXT: 30-minute partner-fit and launch-gate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03E69-F5F9-4AD6-958B-1D3524E2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2BF"/>
                </a:solidFill>
              </a:defRPr>
            </a:pPr>
            <a:r>
              <a:rPr sz="750" b="0">
                <a:solidFill>
                  <a:srgbClr val="8EA2BF"/>
                </a:solidFill>
              </a:rPr>
              <a:t>Israel Sports Pulse · ILSP · Planned primary domain: ilpulse.sport (registration pending)</a:t>
            </a:r>
          </a:p>
        </p:txBody>
      </p:sp>
    </p:spTree>
    <p:extLst>
      <p:ext uri="{BB962C8B-B14F-4D97-AF65-F5344CB8AC3E}">
        <p14:creationId xmlns:p14="http://schemas.microsoft.com/office/powerpoint/2010/main" val="724668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2026-07-17T11:14:51.5890000Z</dcterms:created>
  <dcterms:modified xsi:type="dcterms:W3CDTF">2026-07-17T11:14:51.5890000Z</dcterms:modified>
</coreProperties>
</file>